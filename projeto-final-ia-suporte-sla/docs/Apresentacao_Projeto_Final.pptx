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Pipeline de Dados em Nuvem para Aprendizagem de Máquina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CADCFC"/>
                </a:solidFill>
                <a:latin typeface="Calibri"/>
              </a:rPr>
              <a:t>Previsão de violação de SLA em chamados de suporte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43484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Grupo: João Paulo A. S. Monteiro, Rogério B. dos Anjos 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Pedro Felipe de Moraes Carrijo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IFG - Pós-Graduação em IA Aplicada - Módulo 2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Profs. Sirlon Diniz - Raphael Gomes - Otávio Calaça   |   Goiânia, jun/2026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Visão geral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Do dado bruto à decisão do gestor de suporte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760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Problema: antecipar quais chamados vão violar o SLA de resolução.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Domínio: suporte técnico (service desk SaaS)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Decisor: gestor da equipe de suporte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Decisão: priorizar a fila e realocar agentes antes de o prazo estourar</a:t>
            </a:r>
          </a:p>
          <a:p>
            <a:pPr algn="l">
              <a:spcAft>
                <a:spcPts val="800"/>
              </a:spcAft>
            </a:pPr>
            <a:r>
              <a:rPr sz="1550" b="0">
                <a:solidFill>
                  <a:srgbClr val="222B3A"/>
                </a:solidFill>
                <a:latin typeface="Calibri"/>
              </a:rPr>
              <a:t>• Tarefa de ML: classificação binária (sla_breach)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2011680"/>
            <a:ext cx="1554480" cy="14630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224028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8.000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9718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Calibri"/>
              </a:rPr>
              <a:t>chamados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011680"/>
            <a:ext cx="1554480" cy="14630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224028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29718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Calibri"/>
              </a:rPr>
              <a:t>violam SLA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011680"/>
            <a:ext cx="1554480" cy="14630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2240280"/>
            <a:ext cx="1554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libri"/>
              </a:rPr>
              <a:t>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0" y="297180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B6770"/>
                </a:solidFill>
                <a:latin typeface="Calibri"/>
              </a:rPr>
              <a:t>CSAT médio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749039"/>
            <a:ext cx="4846320" cy="201168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3968496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Stack do projeto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526280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• Python, Airflow, dbt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• Snowflake / DuckDB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CADCFC"/>
                </a:solidFill>
                <a:latin typeface="Calibri"/>
              </a:rPr>
              <a:t>• AWS (S3, Lambda, CloudFormation), Metabase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Dados utilizados e atributos extraídos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3 fontes: estruturada + não estruturada + semiestruturada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27432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Conteúdo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/>
                        <a:t>tickets.csv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Estruturado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categoria, prioridade, canal, tier, tempos, CSAT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/>
                        <a:t>ticket_messages.jsonl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Não estruturado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texto livre do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0"/>
                        <a:t>ticket_events.json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Semiestruturado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trilha de eventos/status (JSON)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Atributos extraídos: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Texto: comprimento, nº palavras, urgência (léxico), flags (reembolso, cancelamento, erro)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Logs: nº de eventos, mudanças de status, reabertura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Estruturado: limpeza, padronização, tratamento de ausentes, partes de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83080"/>
            <a:ext cx="4297680" cy="420624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20574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8390"/>
                </a:solidFill>
                <a:latin typeface="Calibri"/>
              </a:rPr>
              <a:t>Sem vazamento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697480"/>
            <a:ext cx="38404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A decisão ocorre logo após a 1ª resposta.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Por isso NÃO usamos como atributo: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o tempo de resolução (desfecho)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o CSAT (só existe no fim)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Resultado: tabela mart_ml_features com 25 atributos + alvo.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Equivalente 100% em serviços AWS (item 4.5)</a:t>
            </a:r>
          </a:p>
        </p:txBody>
      </p:sp>
      <p:pic>
        <p:nvPicPr>
          <p:cNvPr id="4" name="Picture 3" descr="arquitetura_a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28" y="1691640"/>
            <a:ext cx="872766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Pipeline de ELT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Airflow orquestra; dbt transforma no Snowflake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Ingestão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6272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Processamento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+ atributos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50791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Treino e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avaliação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25312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199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199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Carga no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warehouse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9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dbt build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+ testes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4351" y="2148840"/>
            <a:ext cx="27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28390"/>
                </a:solidFill>
                <a:latin typeface="Calibr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920240"/>
            <a:ext cx="1645920" cy="1005840"/>
          </a:xfrm>
          <a:prstGeom prst="roundRect">
            <a:avLst/>
          </a:prstGeom>
          <a:solidFill>
            <a:srgbClr val="F2F4F8"/>
          </a:solidFill>
          <a:ln w="15240">
            <a:solidFill>
              <a:srgbClr val="0283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2011680"/>
            <a:ext cx="16459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Export</a:t>
            </a:r>
          </a:p>
          <a:p>
            <a:pPr algn="ctr">
              <a:spcAft>
                <a:spcPts val="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80"/>
            <a:ext cx="54864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Camadas dbt: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Staging: stg_tickets, stg_text_features, stg_log_features, stg_predictions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Dimensões: dim_channel, dim_product, dim_category, dim_date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• Fatos/marts: fct_tickets, mart_ml_features, fct_predictions, mart_ticket_decision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474720"/>
            <a:ext cx="5212080" cy="23774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675887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C39A"/>
                </a:solidFill>
                <a:latin typeface="Calibri"/>
              </a:rPr>
              <a:t>Qualidade de dados (dbt)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42816"/>
            <a:ext cx="4754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10 testes: not_null, unique, accepted_values, relationships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Última execução: PASS=22, 0 erros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Reproduzível: run_pipeline.py roda tudo em ~5s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Resultados do modelo de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Baselines, KNN (hard-code + biblioteca) e MLP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22960"/>
                <a:gridCol w="822960"/>
                <a:gridCol w="822960"/>
                <a:gridCol w="822960"/>
                <a:gridCol w="822960"/>
              </a:tblGrid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/>
                        <a:t>Baseline (regra)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0,771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0,498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0,629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0,556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0,721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/>
                        <a:t>KNN (na mão)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0,762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0"/>
                        <a:t>KNN (sklearn)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0,838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0,762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0,421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0,542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0,882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/>
                        <a:t>MLP *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0,887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0,747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0,765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0,756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0,944</a:t>
                      </a:r>
                    </a:p>
                  </a:txBody>
                  <a:tcPr>
                    <a:solidFill>
                      <a:srgbClr val="E6F7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770"/>
                </a:solidFill>
                <a:latin typeface="Calibri"/>
              </a:rPr>
              <a:t>* modelo de produção</a:t>
            </a:r>
          </a:p>
        </p:txBody>
      </p:sp>
      <p:pic>
        <p:nvPicPr>
          <p:cNvPr id="6" name="Picture 5" descr="matriz_con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28800"/>
            <a:ext cx="2613660" cy="2240280"/>
          </a:xfrm>
          <a:prstGeom prst="rect">
            <a:avLst/>
          </a:prstGeom>
        </p:spPr>
      </p:pic>
      <p:pic>
        <p:nvPicPr>
          <p:cNvPr id="7" name="Picture 6" descr="curva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1828800"/>
            <a:ext cx="2711918" cy="2240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12280" y="42062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770"/>
                </a:solidFill>
                <a:latin typeface="Calibri"/>
              </a:rPr>
              <a:t>Matriz de confusão e curva ROC (conjunto de teste)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92040"/>
            <a:ext cx="11109960" cy="1143000"/>
          </a:xfrm>
          <a:prstGeom prst="roundRect">
            <a:avLst/>
          </a:prstGeom>
          <a:solidFill>
            <a:srgbClr val="E6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02920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A"/>
                </a:solidFill>
                <a:latin typeface="Calibri"/>
              </a:rPr>
              <a:t>• KNN na mão (NumPy) e scikit-learn ficaram IDÊNTICOS: concordância de 100% nas predições.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A"/>
                </a:solidFill>
                <a:latin typeface="Calibri"/>
              </a:rPr>
              <a:t>• O MLP teve o melhor F1 (0,756) e recall (0,765), sendo escolhido como modelo de produção.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Dashboard de apoio à decisão (Metabase)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8390"/>
                </a:solidFill>
                <a:latin typeface="Calibri"/>
              </a:rPr>
              <a:t>Indicadores, dados tratados, resultados do modelo e fila por risco</a:t>
            </a:r>
          </a:p>
        </p:txBody>
      </p:sp>
      <p:pic>
        <p:nvPicPr>
          <p:cNvPr id="4" name="Picture 3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600200"/>
            <a:ext cx="668482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Decisões que a solução apoia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4708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Priorizar a fila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84708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Atacar primeiro os chamados com maior probabilidade de violar o SLA.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34639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94436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Realocar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94436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Direcionar esforço para prioridade Crítica/Alta e categorias mais demoradas.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4164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Agir na 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04164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Bug/Defeito e Solicitação de Recurso concentram as violações: base de conhecimento e automações.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1064240" cy="9601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138928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Acompanhar no tempo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138928"/>
            <a:ext cx="7406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22B3A"/>
                </a:solidFill>
                <a:latin typeface="Calibri"/>
              </a:rPr>
              <a:t>Monitorar a evolução mensal da taxa de violação e do CSAT.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Limitações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Nuvem implementada e plugável: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• S3 com upload real (boto3) + CloudFormation (IaC), Snowflake (profile dbt), Airflow (DAG) e Metabase.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• Roda 100% local hoje (DuckDB espelha o Snowflake); basta definir as credenciais para ativar a nuvem.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Limitações: dados sintéticos; integração de nuvem validada localmente (S3 testado com mock).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Próximos passos (escala): Amazon MWAA, SageMaker, embeddings de texto e calibração por custo.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/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Conclusão: a solução cobre o ciclo completo, da ingestão à visualização para a decisão,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integrando Modelagem de Dados, Aprendizagem de Máquina e Cloud Computing.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2C39A"/>
                </a:solidFill>
                <a:latin typeface="Calibri"/>
              </a:rPr>
              <a:t>Obrigado! Dúvidas?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