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Prever quem vai furar o prazo,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antes que o prazo fure.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" y="3611880"/>
            <a:ext cx="2194560" cy="4114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86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 i="0">
                <a:solidFill>
                  <a:srgbClr val="A8D8F0"/>
                </a:solidFill>
                <a:latin typeface="Calibri"/>
              </a:rPr>
              <a:t>Pipeline de dados em nuvem e Machine Learning para priorizar a fila do suporte técnico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074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João Paulo Monteiro   ·   Pedro Felipe de Moraes Carrijo   ·   Rogério dos Anjos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5321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8A9CB8"/>
                </a:solidFill>
                <a:latin typeface="Calibri"/>
              </a:rPr>
              <a:t>IFG · Pós-Graduação em Inteligência Artificial Aplicada · Módulo 2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8A9CB8"/>
                </a:solidFill>
                <a:latin typeface="Calibri"/>
              </a:rPr>
              <a:t>Modelagem de Dados para IA  ·  Aprendizagem de Máquina  ·  Cloud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E9BD6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8508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0F1E3D"/>
                </a:solidFill>
                <a:latin typeface="Calibri"/>
              </a:rPr>
              <a:t>O gestor prioriza a fila no escuro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44752"/>
            <a:ext cx="9850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Todo chamado tem prazo contratual — e estourar custa multa, insatisfação e cancelamento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5503" y="3840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9CA3AF"/>
                </a:solidFill>
                <a:latin typeface="Calibri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57984"/>
            <a:ext cx="1325880" cy="84124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157984"/>
            <a:ext cx="1325880" cy="5029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331720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1" i="0">
                <a:solidFill>
                  <a:srgbClr val="B91C1C"/>
                </a:solidFill>
                <a:latin typeface="Calibri"/>
              </a:rPr>
              <a:t>4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724912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Crítica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157984"/>
            <a:ext cx="1325880" cy="84124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2157984"/>
            <a:ext cx="1325880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331720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1" i="0">
                <a:solidFill>
                  <a:srgbClr val="B45309"/>
                </a:solidFill>
                <a:latin typeface="Calibri"/>
              </a:rPr>
              <a:t>8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724912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Alta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8" y="2157984"/>
            <a:ext cx="1325880" cy="84124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75888" y="2157984"/>
            <a:ext cx="1325880" cy="50292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5888" y="2331720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1" i="0">
                <a:solidFill>
                  <a:srgbClr val="2E9BD6"/>
                </a:solidFill>
                <a:latin typeface="Calibri"/>
              </a:rPr>
              <a:t>24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2724912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Média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57216" y="2157984"/>
            <a:ext cx="1325880" cy="84124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2157984"/>
            <a:ext cx="1325880" cy="5029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6" y="2331720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1" i="0">
                <a:solidFill>
                  <a:srgbClr val="15803D"/>
                </a:solidFill>
                <a:latin typeface="Calibri"/>
              </a:rPr>
              <a:t>48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2724912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Baixa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2249424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SLA de
resolução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39242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B45309"/>
                </a:solidFill>
                <a:latin typeface="Calibri"/>
              </a:rPr>
              <a:t>A REGRA DE HOJE: “alto ou crítico vai estourar”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803904"/>
            <a:ext cx="2377440" cy="14173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986784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800" b="1" i="0">
                <a:solidFill>
                  <a:srgbClr val="B45309"/>
                </a:solidFill>
                <a:latin typeface="Calibri"/>
              </a:rPr>
              <a:t>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745736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dos alertas que ela dá
estão certos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9272" y="3803904"/>
            <a:ext cx="2377440" cy="14173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9272" y="3986784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800" b="1" i="0">
                <a:solidFill>
                  <a:srgbClr val="B45309"/>
                </a:solidFill>
                <a:latin typeface="Calibri"/>
              </a:rPr>
              <a:t>37%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6432" y="4745736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das violações reais
passam batido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438144"/>
            <a:ext cx="18288" cy="192024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39242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5803D"/>
                </a:solidFill>
                <a:latin typeface="Calibri"/>
              </a:rPr>
              <a:t>NOSSA PROPOSTA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803904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3803904"/>
            <a:ext cx="50292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986784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Um risco previsto por chamado, calculado logo após a 1ª resposta do agente.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O gestor reordena a fila por RISCO, não por prioridade cadastrada.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5440680"/>
            <a:ext cx="10765231" cy="868680"/>
          </a:xfrm>
          <a:prstGeom prst="roundRect">
            <a:avLst>
              <a:gd name="adj" fmla="val 6000"/>
            </a:avLst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" y="5632704"/>
            <a:ext cx="100337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Classificação binária · alvo: violar o SLA · 22,8% dos chamados violam — classe minoritária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9CA3AF"/>
                </a:solidFill>
                <a:latin typeface="Calibri"/>
              </a:rPr>
              <a:t>Pedro Felipe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5263" y="65471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Calibri"/>
              </a:rPr>
              <a:t>0:30 – 2:00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E9BD6"/>
                </a:solidFill>
                <a:latin typeface="Calibri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8508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0F1E3D"/>
                </a:solidFill>
                <a:latin typeface="Calibri"/>
              </a:rPr>
              <a:t>Pipeline ELT em sete etapas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44752"/>
            <a:ext cx="9850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Carregamos o dado bruto e transformamos dentro do warehouse, com SQL versionado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5503" y="3840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9CA3AF"/>
                </a:solidFill>
                <a:latin typeface="Calibr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57984"/>
            <a:ext cx="1444752" cy="105156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304288"/>
            <a:ext cx="14447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9CA3A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78608"/>
            <a:ext cx="1261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Ingestão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7984" y="2542032"/>
            <a:ext cx="146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9CA3AF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04288" y="2157984"/>
            <a:ext cx="1444752" cy="105156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4288" y="2304288"/>
            <a:ext cx="14447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578608"/>
            <a:ext cx="1261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Atributos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542032"/>
            <a:ext cx="146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9CA3AF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95344" y="2157984"/>
            <a:ext cx="1444752" cy="1051560"/>
          </a:xfrm>
          <a:prstGeom prst="roundRect">
            <a:avLst>
              <a:gd name="adj" fmla="val 9000"/>
            </a:avLst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5344" y="2304288"/>
            <a:ext cx="14447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2E9BD6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6783" y="2578608"/>
            <a:ext cx="1261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Machine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542032"/>
            <a:ext cx="146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9CA3AF"/>
                </a:solidFill>
                <a:latin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2157984"/>
            <a:ext cx="1444752" cy="105156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2304288"/>
            <a:ext cx="14447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9CA3A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578608"/>
            <a:ext cx="1261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Carga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542032"/>
            <a:ext cx="146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9CA3AF"/>
                </a:solidFill>
                <a:latin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77456" y="2157984"/>
            <a:ext cx="1444752" cy="105156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77456" y="2304288"/>
            <a:ext cx="14447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9CA3A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896" y="2578608"/>
            <a:ext cx="1261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dbt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8" y="2542032"/>
            <a:ext cx="146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9CA3AF"/>
                </a:solidFill>
                <a:latin typeface="Calibr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68511" y="2157984"/>
            <a:ext cx="1444752" cy="105156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304288"/>
            <a:ext cx="14447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9CA3A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9951" y="2578608"/>
            <a:ext cx="1261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13263" y="2542032"/>
            <a:ext cx="146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9CA3AF"/>
                </a:solidFill>
                <a:latin typeface="Calibr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59567" y="2157984"/>
            <a:ext cx="1444752" cy="105156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59567" y="2304288"/>
            <a:ext cx="14447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9CA3A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7" y="2578608"/>
            <a:ext cx="1261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Nuvem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364992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6B7280"/>
                </a:solidFill>
                <a:latin typeface="Calibri"/>
              </a:rPr>
              <a:t>run_pipeline.py (local) e a DAG do Airflow executam as mesmas sete etapas — sem duplicar código.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3941064"/>
            <a:ext cx="10765231" cy="777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" y="3941064"/>
            <a:ext cx="50292" cy="7772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07822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9BD6"/>
                </a:solidFill>
                <a:latin typeface="Calibri"/>
              </a:rPr>
              <a:t>BRONZE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436168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data/raw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9312" y="4178808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3 fontes brutas: CSV estruturado, texto livre em JSONL, logs de eventos em JSON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" y="4837176"/>
            <a:ext cx="10765231" cy="777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3232" y="4837176"/>
            <a:ext cx="50292" cy="7772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97433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9BD6"/>
                </a:solidFill>
                <a:latin typeface="Calibri"/>
              </a:rPr>
              <a:t>PRATA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25780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data/processed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39312" y="507492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Limpeza, 9 atributos extraídos do texto e 3 dos logs → uma tabela de 8.000 × 26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" y="5733288"/>
            <a:ext cx="10765231" cy="777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3232" y="5733288"/>
            <a:ext cx="50292" cy="7772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8704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OURO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615391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warehouse + dbt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39312" y="5971032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staging → dimensões → fatos → marts · 12 modelos e 10 testes de qualidade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9CA3AF"/>
                </a:solidFill>
                <a:latin typeface="Calibri"/>
              </a:rPr>
              <a:t>João Paulo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5263" y="65471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Calibri"/>
              </a:rPr>
              <a:t>2:00 – 3:30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E9BD6"/>
                </a:solidFill>
                <a:latin typeface="Calibri"/>
              </a:rPr>
              <a:t>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8508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0F1E3D"/>
                </a:solidFill>
                <a:latin typeface="Calibri"/>
              </a:rPr>
              <a:t>Três tipos de dado, uma tabela só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44752"/>
            <a:ext cx="9850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Exigência 4.2: estruturado + não estruturado + semiestruturado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5503" y="3840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9CA3AF"/>
                </a:solidFill>
                <a:latin typeface="Calibr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57984"/>
            <a:ext cx="345643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157984"/>
            <a:ext cx="3456432" cy="685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432304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E9BD6"/>
                </a:solidFill>
                <a:latin typeface="Calibri"/>
              </a:rPr>
              <a:t>ESTRUTURADO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77977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F1E3D"/>
                </a:solidFill>
                <a:latin typeface="Consolas"/>
              </a:rPr>
              <a:t>tickets.csv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182112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Categoria, prioridade, canal, tier do cliente, tamanho da fila e tempos.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57984"/>
            <a:ext cx="345643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57984"/>
            <a:ext cx="3456432" cy="685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432304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B45309"/>
                </a:solidFill>
                <a:latin typeface="Calibri"/>
              </a:rPr>
              <a:t>NÃO ESTRUTURADO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7977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F1E3D"/>
                </a:solidFill>
                <a:latin typeface="Consolas"/>
              </a:rPr>
              <a:t>ticket_messages.jsonl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182112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O texto livre que o cliente escreveu ao abrir o chamado.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7" y="2157984"/>
            <a:ext cx="345643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7" y="2157984"/>
            <a:ext cx="3456432" cy="685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432304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5803D"/>
                </a:solidFill>
                <a:latin typeface="Calibri"/>
              </a:rPr>
              <a:t>SEMIESTRUTURADO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77977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F1E3D"/>
                </a:solidFill>
                <a:latin typeface="Consolas"/>
              </a:rPr>
              <a:t>ticket_events.json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182112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Log de eventos: criado, 1ª resposta, reaberto, resolvido.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306824"/>
            <a:ext cx="10765231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306824"/>
            <a:ext cx="50292" cy="8686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489704"/>
            <a:ext cx="10262311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Do texto extraímos 9 atributos numéricos — tamanho, palavras de urgência, proporção de maiúsculas, menções a reembolso, cancelamento e erro. Dos logs, 3 agregações. Join pelo ticket_id.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5404104"/>
            <a:ext cx="3456432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586984"/>
            <a:ext cx="34564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0F1E3D"/>
                </a:solidFill>
                <a:latin typeface="Calibri"/>
              </a:rPr>
              <a:t>8.000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6254496"/>
            <a:ext cx="31821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chamados gerados com semente fixa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5404104"/>
            <a:ext cx="3456432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5586984"/>
            <a:ext cx="34564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0F1E3D"/>
                </a:solidFill>
                <a:latin typeface="Calibri"/>
              </a:rPr>
              <a:t>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6254496"/>
            <a:ext cx="31821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colunas na tabela unificada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5007" y="5404104"/>
            <a:ext cx="3429000" cy="13258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5007" y="5586984"/>
            <a:ext cx="3429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B45309"/>
                </a:solidFill>
                <a:latin typeface="Calibri"/>
              </a:rPr>
              <a:t>22,8%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7" y="6254496"/>
            <a:ext cx="3154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violam o SLA — classe minoritária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9CA3AF"/>
                </a:solidFill>
                <a:latin typeface="Calibri"/>
              </a:rPr>
              <a:t>João Paulo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5263" y="65471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Calibri"/>
              </a:rPr>
              <a:t>3:30 – 5:00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E9BD6"/>
                </a:solidFill>
                <a:latin typeface="Calibri"/>
              </a:rPr>
              <a:t>RIGOR METODOLÓGICO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8508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0F1E3D"/>
                </a:solidFill>
                <a:latin typeface="Calibri"/>
              </a:rPr>
              <a:t>A decisão que sustenta 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44752"/>
            <a:ext cx="9850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Prevenção de vazamento de dados (data leakage)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5503" y="3840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9CA3AF"/>
                </a:solidFill>
                <a:latin typeface="Calibr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57984"/>
            <a:ext cx="5394960" cy="269748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157984"/>
            <a:ext cx="5394960" cy="685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43230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5803D"/>
                </a:solidFill>
                <a:latin typeface="Calibri"/>
              </a:rPr>
              <a:t>ENTRA COMO ATRIBUTO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843784"/>
            <a:ext cx="4754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categoria · prioridade · canal · tier · região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tamanho da fila · tempo da 1ª resposta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9 atributos do texto · 3 dos logs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Tudo o que já se conhece no momento da decisão.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57984"/>
            <a:ext cx="5120640" cy="269748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157984"/>
            <a:ext cx="5120640" cy="685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43230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B91C1C"/>
                </a:solidFill>
                <a:latin typeface="Calibri"/>
              </a:rPr>
              <a:t>FICA DE FORA, DE PROPÓSITO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43784"/>
            <a:ext cx="4480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resolution_minutes → o alvo é calculado dele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csat_score → só existe depois do fechamento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Usá-los daria quase 100% de acurácia e um modelo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inútil: no momento da decisão eles não existem.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129784"/>
            <a:ext cx="10765231" cy="914400"/>
          </a:xfrm>
          <a:prstGeom prst="roundRect">
            <a:avLst>
              <a:gd name="adj" fmla="val 6000"/>
            </a:avLst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5285232"/>
            <a:ext cx="1003371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 média e o desvio da padronização também são calculados só no conjunto de treino.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É um vazamento sutil, muito comum — e infla a métrica sem ninguém perceber.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9CA3AF"/>
                </a:solidFill>
                <a:latin typeface="Calibri"/>
              </a:rPr>
              <a:t>João Paulo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5263" y="65471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Calibri"/>
              </a:rPr>
              <a:t>5:00 – 6:00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E9BD6"/>
                </a:solidFill>
                <a:latin typeface="Calibri"/>
              </a:rPr>
              <a:t>MODELAGEM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8508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0F1E3D"/>
                </a:solidFill>
                <a:latin typeface="Calibri"/>
              </a:rPr>
              <a:t>Modelo dimensional e qualidade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44752"/>
            <a:ext cx="9850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dbt: staging → dimensões → fatos → marts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5503" y="3840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9CA3AF"/>
                </a:solidFill>
                <a:latin typeface="Calibr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57984"/>
            <a:ext cx="694944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157984"/>
            <a:ext cx="50292" cy="228600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40864"/>
            <a:ext cx="6446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F1E3D"/>
                </a:solidFill>
                <a:latin typeface="Calibri"/>
              </a:rPr>
              <a:t>O que construímos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761488"/>
            <a:ext cx="6446520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fct_tickets — fato central, 1 registro por chamado, integrando as 3 fontes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4 dimensões (categoria, canal, produto, data) + fct_predictions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mart_ticket_decision — traduz a probabilidade em faixa Alto / Médio / Baixo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10 testes: unicidade, não-nulo, valores aceitos e integridade referencial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157984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615184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15803D"/>
                </a:solidFill>
                <a:latin typeface="Calibri"/>
              </a:rPr>
              <a:t>PASS =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483864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5803D"/>
                </a:solidFill>
                <a:latin typeface="Calibri"/>
              </a:rPr>
              <a:t>12 modelos + 10 testes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5803D"/>
                </a:solidFill>
                <a:latin typeface="Calibri"/>
              </a:rPr>
              <a:t>0 avisos · 0 erros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764024"/>
            <a:ext cx="10765231" cy="1508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4764024"/>
            <a:ext cx="50292" cy="150876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4946904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F1E3D"/>
                </a:solidFill>
                <a:latin typeface="Calibri"/>
              </a:rPr>
              <a:t>Portabilidade comprovada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5330952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Os mesmos 12 modelos e 10 testes rodam com PASS=22 no DuckDB E no Postgres — sem mudar uma linha de SQL, só o --target.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Foi esse exercício que revelou o único trecho não portável: um cast as double, atalho exclusivo do DuckDB, trocado pelo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tipo ANSI double precision. O profile do Snowflake usa exatamente o mesmo código.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9CA3AF"/>
                </a:solidFill>
                <a:latin typeface="Calibri"/>
              </a:rPr>
              <a:t>João Paulo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5263" y="65471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Calibri"/>
              </a:rPr>
              <a:t>6:00 – 7:30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E9BD6"/>
                </a:solidFill>
                <a:latin typeface="Calibri"/>
              </a:rPr>
              <a:t>ORQUESTRAÇÃO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8508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0F1E3D"/>
                </a:solidFill>
                <a:latin typeface="Calibri"/>
              </a:rPr>
              <a:t>A DAG em 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44752"/>
            <a:ext cx="9850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Agendamento diário, retry por task e histórico auditável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5503" y="3840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9CA3AF"/>
                </a:solidFill>
                <a:latin typeface="Calibri"/>
              </a:rPr>
              <a:t>06</a:t>
            </a:r>
          </a:p>
        </p:txBody>
      </p:sp>
      <p:pic>
        <p:nvPicPr>
          <p:cNvPr id="7" name="Picture 6" descr="airflow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157984"/>
            <a:ext cx="8183879" cy="46349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1228" y="2125980"/>
            <a:ext cx="8247887" cy="4698927"/>
          </a:xfrm>
          <a:prstGeom prst="rect">
            <a:avLst/>
          </a:prstGeom>
          <a:noFill/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0" y="2157984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230428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F1E3D"/>
                </a:solidFill>
                <a:latin typeface="Calibri"/>
              </a:rPr>
              <a:t>7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660904"/>
            <a:ext cx="2011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encadeadas com dependência explícita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3456432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602736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F1E3D"/>
                </a:solidFill>
                <a:latin typeface="Calibri"/>
              </a:rPr>
              <a:t>3 execuções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959352"/>
            <a:ext cx="2011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todas verdes no histórico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475488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4901184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F1E3D"/>
                </a:solidFill>
                <a:latin typeface="Calibri"/>
              </a:rPr>
              <a:t>BashOperator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5257800"/>
            <a:ext cx="2011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o Airflow orquestra; cada etapa roda isolada no ambiente do projeto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9CA3AF"/>
                </a:solidFill>
                <a:latin typeface="Calibri"/>
              </a:rPr>
              <a:t>João Paulo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5263" y="65471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Calibri"/>
              </a:rPr>
              <a:t>7:30 – 8:30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E9BD6"/>
                </a:solidFill>
                <a:latin typeface="Calibri"/>
              </a:rPr>
              <a:t>APRENDIZAGEM DE MÁQUINA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8508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0F1E3D"/>
                </a:solidFill>
                <a:latin typeface="Calibri"/>
              </a:rPr>
              <a:t>Medido contra a prática atual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44752"/>
            <a:ext cx="9850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Classificação binária · 6.000 treino / 2.000 teste · 49 atributos · conjunto de teste fora da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5503" y="3840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9CA3AF"/>
                </a:solidFill>
                <a:latin typeface="Calibri"/>
              </a:rPr>
              <a:t>07</a:t>
            </a:r>
          </a:p>
        </p:txBody>
      </p:sp>
      <p:pic>
        <p:nvPicPr>
          <p:cNvPr id="7" name="Picture 6" descr="comparativo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112264"/>
            <a:ext cx="6858000" cy="31582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2112264"/>
            <a:ext cx="3611880" cy="1234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2112264"/>
            <a:ext cx="50292" cy="1234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29514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F1E3D"/>
                </a:solidFill>
                <a:latin typeface="Calibri"/>
              </a:rPr>
              <a:t>Hard-code = biblioteca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15768"/>
            <a:ext cx="3108960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KNN em NumPy puro e o do scikit-learn: 100% de concordância nas 2.000 predições.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483864"/>
            <a:ext cx="3611880" cy="123444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3483864"/>
            <a:ext cx="50292" cy="12344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66674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F1E3D"/>
                </a:solidFill>
                <a:latin typeface="Calibri"/>
              </a:rPr>
              <a:t>Ganho sobre o que se faz hoje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087368"/>
            <a:ext cx="3108960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F1 sobe de 0,556 para 0,756 — 36% melhor que a regra por prioridade.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855464"/>
            <a:ext cx="3611880" cy="123444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4855464"/>
            <a:ext cx="50292" cy="1234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503834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F1E3D"/>
                </a:solidFill>
                <a:latin typeface="Calibri"/>
              </a:rPr>
              <a:t>Por que F1 e não acurácia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458968"/>
            <a:ext cx="3108960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Chutar 'não viola' já acerta 77%. Com classe minoritária, acurácia engana.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9CA3AF"/>
                </a:solidFill>
                <a:latin typeface="Calibri"/>
              </a:rPr>
              <a:t>Rogério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5263" y="65471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Calibri"/>
              </a:rPr>
              <a:t>8:30 – 11:00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E9BD6"/>
                </a:solidFill>
                <a:latin typeface="Calibri"/>
              </a:rPr>
              <a:t>APRENDIZAGEM DE MÁQUINA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8508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0F1E3D"/>
                </a:solidFill>
                <a:latin typeface="Calibri"/>
              </a:rPr>
              <a:t>O que isso significa na operação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44752"/>
            <a:ext cx="9850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Matriz de confusão do modelo de produção (MLP) nos 2.000 chamados de teste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5503" y="3840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9CA3AF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" y="2231136"/>
            <a:ext cx="4297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6B7280"/>
                </a:solidFill>
                <a:latin typeface="Calibri"/>
              </a:rPr>
              <a:t>PREVISTO PELO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907792"/>
            <a:ext cx="2743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050" b="1" i="0">
                <a:solidFill>
                  <a:srgbClr val="6B7280"/>
                </a:solidFill>
                <a:latin typeface="Calibri"/>
              </a:rPr>
              <a:t>R
E
A
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4792" y="2542032"/>
            <a:ext cx="2148840" cy="1234440"/>
          </a:xfrm>
          <a:prstGeom prst="roundRect">
            <a:avLst>
              <a:gd name="adj" fmla="val 7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2706624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300" b="1" i="0">
                <a:solidFill>
                  <a:srgbClr val="15803D"/>
                </a:solidFill>
                <a:latin typeface="Calibri"/>
              </a:rPr>
              <a:t>1.426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3291840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5803D"/>
                </a:solidFill>
                <a:latin typeface="Calibri"/>
              </a:rPr>
              <a:t>Não violou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5803D"/>
                </a:solidFill>
                <a:latin typeface="Calibri"/>
              </a:rPr>
              <a:t>e acertamos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542032"/>
            <a:ext cx="2148840" cy="1234440"/>
          </a:xfrm>
          <a:prstGeom prst="roundRect">
            <a:avLst>
              <a:gd name="adj" fmla="val 7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2706624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300" b="1" i="0">
                <a:solidFill>
                  <a:srgbClr val="B45309"/>
                </a:solidFill>
                <a:latin typeface="Calibri"/>
              </a:rPr>
              <a:t>118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291840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B45309"/>
                </a:solidFill>
                <a:latin typeface="Calibri"/>
              </a:rPr>
              <a:t>Alarme falso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64792" y="3886200"/>
            <a:ext cx="2148840" cy="1234440"/>
          </a:xfrm>
          <a:prstGeom prst="roundRect">
            <a:avLst>
              <a:gd name="adj" fmla="val 7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4792" y="4050791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300" b="1" i="0">
                <a:solidFill>
                  <a:srgbClr val="B91C1C"/>
                </a:solidFill>
                <a:latin typeface="Calibri"/>
              </a:rPr>
              <a:t>107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4636008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B91C1C"/>
                </a:solidFill>
                <a:latin typeface="Calibri"/>
              </a:rPr>
              <a:t>Escapou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3886200"/>
            <a:ext cx="2148840" cy="1234440"/>
          </a:xfrm>
          <a:prstGeom prst="roundRect">
            <a:avLst>
              <a:gd name="adj" fmla="val 7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4050791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300" b="1" i="0">
                <a:solidFill>
                  <a:srgbClr val="15803D"/>
                </a:solidFill>
                <a:latin typeface="Calibri"/>
              </a:rPr>
              <a:t>349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636008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5803D"/>
                </a:solidFill>
                <a:latin typeface="Calibri"/>
              </a:rPr>
              <a:t>Violou 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5803D"/>
                </a:solidFill>
                <a:latin typeface="Calibri"/>
              </a:rPr>
              <a:t>avisamos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5285232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Não violou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5285232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Violou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478024"/>
            <a:ext cx="2377440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660904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0F1E3D"/>
                </a:solidFill>
                <a:latin typeface="Calibri"/>
              </a:rPr>
              <a:t>456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328416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violaram o SLA de verdade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2478024"/>
            <a:ext cx="2377440" cy="132588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2660904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15803D"/>
                </a:solidFill>
                <a:latin typeface="Calibri"/>
              </a:rPr>
              <a:t>349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328416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o modelo avisou a tempo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3941064"/>
            <a:ext cx="2377440" cy="132588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123944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B91C1C"/>
                </a:solidFill>
                <a:latin typeface="Calibri"/>
              </a:rPr>
              <a:t>107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791456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escaparam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941064"/>
            <a:ext cx="2377440" cy="13258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4123944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B45309"/>
                </a:solidFill>
                <a:latin typeface="Calibri"/>
              </a:rPr>
              <a:t>118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791456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alarmes falsos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5404104"/>
            <a:ext cx="489204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5404104"/>
            <a:ext cx="50292" cy="91440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5586984"/>
            <a:ext cx="438912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Priorizamos recall (0,765): um falso negativo é um prazo estourado sem aviso — caro. Um falso positivo é um agente que olhou um chamado à toa — barato.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9CA3AF"/>
                </a:solidFill>
                <a:latin typeface="Calibri"/>
              </a:rPr>
              <a:t>Rogério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5263" y="65471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Calibri"/>
              </a:rPr>
              <a:t>11:00 – 11:45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E9BD6"/>
                </a:solidFill>
                <a:latin typeface="Calibri"/>
              </a:rPr>
              <a:t>VISUALIZAÇÃO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8508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0F1E3D"/>
                </a:solidFill>
                <a:latin typeface="Calibri"/>
              </a:rPr>
              <a:t>O painel onde a decisão acontece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44752"/>
            <a:ext cx="9850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Metabase sobre o warehouse · 10 cards · filtros de prioridade, categoria e canal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5503" y="3840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9CA3AF"/>
                </a:solidFill>
                <a:latin typeface="Calibri"/>
              </a:rPr>
              <a:t>09</a:t>
            </a:r>
          </a:p>
        </p:txBody>
      </p:sp>
      <p:pic>
        <p:nvPicPr>
          <p:cNvPr id="7" name="Picture 6" descr="metabas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157984"/>
            <a:ext cx="7863840" cy="44897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1228" y="2125980"/>
            <a:ext cx="7927848" cy="4553781"/>
          </a:xfrm>
          <a:prstGeom prst="rect">
            <a:avLst/>
          </a:prstGeom>
          <a:noFill/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23960" y="2157984"/>
            <a:ext cx="2651760" cy="3977639"/>
          </a:xfrm>
          <a:prstGeom prst="roundRect">
            <a:avLst>
              <a:gd name="adj" fmla="val 7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3960" y="2157984"/>
            <a:ext cx="2651760" cy="685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2414016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F1E3D"/>
                </a:solidFill>
                <a:latin typeface="Calibri"/>
              </a:rPr>
              <a:t>O achado mais
acionável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3072384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B45309"/>
                </a:solidFill>
                <a:latin typeface="Calibri"/>
              </a:rPr>
              <a:t>68,5%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758184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dos chamados de
“Solicitação de Recurso”
violam o SLA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4672584"/>
            <a:ext cx="2240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Calibri"/>
              </a:rPr>
              <a:t>“Dúvida / Como Fazer” viola 0,5%.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Calibri"/>
              </a:rPr>
              <a:t>Não é problema de previsão: é de processo. Pedido de recurso não deveria dividir fila e prazo com suporte.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9CA3AF"/>
                </a:solidFill>
                <a:latin typeface="Calibri"/>
              </a:rPr>
              <a:t>Pedro Felipe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5263" y="65471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Calibri"/>
              </a:rPr>
              <a:t>11:45 – 13:15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E9BD6"/>
                </a:solidFill>
                <a:latin typeface="Calibri"/>
              </a:rPr>
              <a:t>CLOUD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8508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0F1E3D"/>
                </a:solidFill>
                <a:latin typeface="Calibri"/>
              </a:rPr>
              <a:t>O que é real e o que é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44752"/>
            <a:ext cx="9850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Transparência sobre o escopo efetivamente executado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5503" y="3840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9CA3AF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arquitetura_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49424"/>
            <a:ext cx="7040880" cy="39834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1228" y="2217420"/>
            <a:ext cx="7104888" cy="4047453"/>
          </a:xfrm>
          <a:prstGeom prst="rect">
            <a:avLst/>
          </a:prstGeom>
          <a:noFill/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01000" y="2157984"/>
            <a:ext cx="3474720" cy="1691640"/>
          </a:xfrm>
          <a:prstGeom prst="roundRect">
            <a:avLst>
              <a:gd name="adj" fmla="val 7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01000" y="2157984"/>
            <a:ext cx="3474720" cy="685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241401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IMPLEMENTADO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2761488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Calibri"/>
              </a:rPr>
              <a:t>CloudFormation (IaC): 3 buckets, IAM, Lambda, EventBridge e CloudWatch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Calibri"/>
              </a:rPr>
              <a:t>Template extra para o AWS Academy, que não permite criar IAM 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4032504"/>
            <a:ext cx="3474720" cy="1143000"/>
          </a:xfrm>
          <a:prstGeom prst="roundRect">
            <a:avLst>
              <a:gd name="adj" fmla="val 7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4032504"/>
            <a:ext cx="3474720" cy="685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428853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45309"/>
                </a:solidFill>
                <a:latin typeface="Calibri"/>
              </a:rPr>
              <a:t>PROPOSTA NO DIAGRAMA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4626864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1F2937"/>
                </a:solidFill>
                <a:latin typeface="Calibri"/>
              </a:rPr>
              <a:t>Airflow gerenciado, SageMaker e Snowflake gerenciado — arquitetura de referência.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5358384"/>
            <a:ext cx="3474720" cy="10058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55595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1E3D"/>
                </a:solidFill>
                <a:latin typeface="Calibri"/>
              </a:rPr>
              <a:t>CUSTO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583387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1F2937"/>
                </a:solidFill>
                <a:latin typeface="Calibri"/>
              </a:rPr>
              <a:t>Hoje ~US$ 0 (nível gratuito) · produção US$ 450–600/mês · versão enxuta US$ 70–120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9CA3AF"/>
                </a:solidFill>
                <a:latin typeface="Calibri"/>
              </a:rPr>
              <a:t>Pedro Felipe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5263" y="65471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Calibri"/>
              </a:rPr>
              <a:t>13:15 – 14:15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As três decisões que a solução apoia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72768"/>
            <a:ext cx="10765231" cy="868680"/>
          </a:xfrm>
          <a:prstGeom prst="roundRect">
            <a:avLst>
              <a:gd name="adj" fmla="val 6000"/>
            </a:avLst>
          </a:prstGeom>
          <a:solidFill>
            <a:srgbClr val="1B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572768"/>
            <a:ext cx="50292" cy="8686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0992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A8D8F0"/>
                </a:solidFill>
                <a:latin typeface="Calibri"/>
              </a:rPr>
              <a:t>Priorizar a fila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5072" y="1728216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Atacar primeiro os 447 chamados de risco Alto, em vez de seguir a prioridade cadastrada.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96896"/>
            <a:ext cx="10765231" cy="868680"/>
          </a:xfrm>
          <a:prstGeom prst="roundRect">
            <a:avLst>
              <a:gd name="adj" fmla="val 6000"/>
            </a:avLst>
          </a:prstGeom>
          <a:solidFill>
            <a:srgbClr val="1B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596896"/>
            <a:ext cx="50292" cy="8686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7340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A8D8F0"/>
                </a:solidFill>
                <a:latin typeface="Calibri"/>
              </a:rPr>
              <a:t>Realocar agentes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2752344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Concentrar esforço em Crítica (60,4%) e Alta (47,3%), onde o prazo mais estoura.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621024"/>
            <a:ext cx="10765231" cy="868680"/>
          </a:xfrm>
          <a:prstGeom prst="roundRect">
            <a:avLst>
              <a:gd name="adj" fmla="val 6000"/>
            </a:avLst>
          </a:prstGeom>
          <a:solidFill>
            <a:srgbClr val="1B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3621024"/>
            <a:ext cx="50292" cy="8686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75818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A8D8F0"/>
                </a:solidFill>
                <a:latin typeface="Calibri"/>
              </a:rPr>
              <a:t>Agir na estrutura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3776472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Separar “Solicitação de Recurso” da fila de suporte, com SLA próprio — ela depende do time de produto.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92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9BD6"/>
                </a:solidFill>
                <a:latin typeface="Calibri"/>
              </a:rPr>
              <a:t>LIMITAÇÕES QUE ASSUMIMOS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367528"/>
            <a:ext cx="82296" cy="82296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5285232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5D2E4"/>
                </a:solidFill>
                <a:latin typeface="Calibri"/>
              </a:rPr>
              <a:t>Dados sintéticos — as métricas são otimistas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5367528"/>
            <a:ext cx="82296" cy="82296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5285232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5D2E4"/>
                </a:solidFill>
                <a:latin typeface="Calibri"/>
              </a:rPr>
              <a:t>Modelo estático, sem retreino nem monitoramento de drift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751576"/>
            <a:ext cx="82296" cy="82296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566928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5D2E4"/>
                </a:solidFill>
                <a:latin typeface="Calibri"/>
              </a:rPr>
              <a:t>Painel sobre histórico, não sobre a fila em tempo real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5751576"/>
            <a:ext cx="82296" cy="82296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566928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5D2E4"/>
                </a:solidFill>
                <a:latin typeface="Calibri"/>
              </a:rPr>
              <a:t>Sem Snowflake e sem upload real ao S3: implementados, não executados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